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4BFF5-F73D-4D61-A0D3-C4F5AB24DB03}" type="datetimeFigureOut">
              <a:rPr lang="sk-SK" smtClean="0"/>
              <a:t>14. 4. 2026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BED03-2B0E-4FAB-9AA5-15DAB76C3A4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16690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BED03-2B0E-4FAB-9AA5-15DAB76C3A4A}" type="slidenum">
              <a:rPr lang="sk-SK" smtClean="0"/>
              <a:t>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80095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984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63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418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055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712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253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1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328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33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9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2241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4402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3">
            <a:extLst>
              <a:ext uri="{FF2B5EF4-FFF2-40B4-BE49-F238E27FC236}">
                <a16:creationId xmlns:a16="http://schemas.microsoft.com/office/drawing/2014/main" id="{ABD7A453-C608-0228-F5A9-6F89836D33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rcRect t="2475" b="12297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6" name="Rectangle 10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E94D5DE-C81C-79CA-257D-FC19BA1D8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061" y="9144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sk-SK" dirty="0">
                <a:solidFill>
                  <a:srgbClr val="FFFFFF"/>
                </a:solidFill>
                <a:latin typeface="Aptos Black" panose="020F0502020204030204" pitchFamily="34" charset="0"/>
              </a:rPr>
              <a:t>ALKALOIDY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06E7EE9-9896-3057-B7C2-5336FA3D8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9835" y="5253051"/>
            <a:ext cx="4941173" cy="812923"/>
          </a:xfrm>
        </p:spPr>
        <p:txBody>
          <a:bodyPr anchor="t">
            <a:normAutofit/>
          </a:bodyPr>
          <a:lstStyle/>
          <a:p>
            <a:pPr algn="r"/>
            <a:r>
              <a:rPr lang="sk-SK" sz="1400" dirty="0" err="1">
                <a:solidFill>
                  <a:srgbClr val="FFFFFF"/>
                </a:solidFill>
              </a:rPr>
              <a:t>Rei</a:t>
            </a:r>
            <a:r>
              <a:rPr lang="sk-SK" sz="1400" dirty="0">
                <a:solidFill>
                  <a:srgbClr val="FFFFFF"/>
                </a:solidFill>
              </a:rPr>
              <a:t> A. Brozman, Libor </a:t>
            </a:r>
            <a:r>
              <a:rPr lang="sk-SK" sz="1400" dirty="0" err="1">
                <a:solidFill>
                  <a:srgbClr val="FFFFFF"/>
                </a:solidFill>
              </a:rPr>
              <a:t>Cmorík</a:t>
            </a:r>
            <a:endParaRPr lang="sk-SK" sz="1400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Alkaloidy – Wikipedie">
            <a:extLst>
              <a:ext uri="{FF2B5EF4-FFF2-40B4-BE49-F238E27FC236}">
                <a16:creationId xmlns:a16="http://schemas.microsoft.com/office/drawing/2014/main" id="{38049F90-CFF0-222E-F969-E7098B543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124" y="1788230"/>
            <a:ext cx="4317816" cy="3281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3616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9" name="Rectangle 205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8E5E83A-6E01-943D-AD04-AE89E439C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sk-SK" dirty="0"/>
              <a:t>Čo sú alkaloidy</a:t>
            </a:r>
          </a:p>
        </p:txBody>
      </p:sp>
      <p:cxnSp>
        <p:nvCxnSpPr>
          <p:cNvPr id="2061" name="Straight Connector 206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2A1F7AA-6437-174D-B762-34A83DB94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>
            <a:normAutofit/>
          </a:bodyPr>
          <a:lstStyle/>
          <a:p>
            <a:r>
              <a:rPr lang="sk-SK" dirty="0"/>
              <a:t>Prírodné organické zlúčeniny</a:t>
            </a:r>
          </a:p>
          <a:p>
            <a:r>
              <a:rPr lang="sk-SK" dirty="0"/>
              <a:t>Obsahujú dusík</a:t>
            </a:r>
          </a:p>
          <a:p>
            <a:r>
              <a:rPr lang="sk-SK" dirty="0"/>
              <a:t>Zásadité látky</a:t>
            </a:r>
          </a:p>
          <a:p>
            <a:r>
              <a:rPr lang="sk-SK" dirty="0"/>
              <a:t>Biologicky aktívne</a:t>
            </a:r>
          </a:p>
        </p:txBody>
      </p:sp>
      <p:pic>
        <p:nvPicPr>
          <p:cNvPr id="2054" name="Picture 6" descr="Morfin – WikiSkripta">
            <a:extLst>
              <a:ext uri="{FF2B5EF4-FFF2-40B4-BE49-F238E27FC236}">
                <a16:creationId xmlns:a16="http://schemas.microsoft.com/office/drawing/2014/main" id="{59BA806E-E51B-8248-871D-444786C6B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55179" y="2580762"/>
            <a:ext cx="4375829" cy="3719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947956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89" name="Straight Connector 3082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90" name="Rectangle 3084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22A874B-5195-BBA5-2084-B65CA6D9F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520" y="914400"/>
            <a:ext cx="10020496" cy="11177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Výskyt v prírode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25238A3-C8A4-A084-A259-35830FD09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336" y="2590217"/>
            <a:ext cx="9393865" cy="8192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cap="all" spc="300"/>
              <a:t>V maku, tabaku, káve, čaji...</a:t>
            </a:r>
          </a:p>
        </p:txBody>
      </p:sp>
      <p:cxnSp>
        <p:nvCxnSpPr>
          <p:cNvPr id="3091" name="Straight Connector 3086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32706" y="231116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Nahuby.sk - Fotografia - makovica, ale koho?">
            <a:extLst>
              <a:ext uri="{FF2B5EF4-FFF2-40B4-BE49-F238E27FC236}">
                <a16:creationId xmlns:a16="http://schemas.microsoft.com/office/drawing/2014/main" id="{C0CDE576-2325-1243-A242-6234C8C90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65760" y="3566160"/>
            <a:ext cx="2080442" cy="2633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abák virginský – Nicotiana tabacum – semená">
            <a:extLst>
              <a:ext uri="{FF2B5EF4-FFF2-40B4-BE49-F238E27FC236}">
                <a16:creationId xmlns:a16="http://schemas.microsoft.com/office/drawing/2014/main" id="{B23C1AEE-2F5E-4A0F-014A-B5425F4A5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78142" y="3566160"/>
            <a:ext cx="2633472" cy="2633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TREPALLINI CRUDO káva zrnková 750 g | - Autentico caffe Italiano">
            <a:extLst>
              <a:ext uri="{FF2B5EF4-FFF2-40B4-BE49-F238E27FC236}">
                <a16:creationId xmlns:a16="http://schemas.microsoft.com/office/drawing/2014/main" id="{F8CE448E-3CEE-1582-A08D-B72930F87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43554" y="3566160"/>
            <a:ext cx="2633472" cy="2633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155195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4" name="Rectangle 410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002B567-D28D-C77B-CEB2-8A88E9EA0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9126" y="979051"/>
            <a:ext cx="2811879" cy="1807048"/>
          </a:xfrm>
        </p:spPr>
        <p:txBody>
          <a:bodyPr anchor="b">
            <a:normAutofit/>
          </a:bodyPr>
          <a:lstStyle/>
          <a:p>
            <a:r>
              <a:rPr lang="sk-SK" sz="3600"/>
              <a:t>Chemické vlastnosti</a:t>
            </a:r>
          </a:p>
        </p:txBody>
      </p:sp>
      <p:pic>
        <p:nvPicPr>
          <p:cNvPr id="4098" name="Picture 2" descr="Antibiotiká nie sú cukríky - Domáce - Správy - Pravda">
            <a:extLst>
              <a:ext uri="{FF2B5EF4-FFF2-40B4-BE49-F238E27FC236}">
                <a16:creationId xmlns:a16="http://schemas.microsoft.com/office/drawing/2014/main" id="{1B433140-6378-A234-4E5C-B3A89F9C4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24"/>
          <a:stretch>
            <a:fillRect/>
          </a:stretch>
        </p:blipFill>
        <p:spPr bwMode="auto">
          <a:xfrm>
            <a:off x="20" y="535709"/>
            <a:ext cx="8229580" cy="582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15" name="Straight Connector 4111">
            <a:extLst>
              <a:ext uri="{FF2B5EF4-FFF2-40B4-BE49-F238E27FC236}">
                <a16:creationId xmlns:a16="http://schemas.microsoft.com/office/drawing/2014/main" id="{02C7985C-B0C3-CC50-E86A-B5EBA40E0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" y="6359240"/>
            <a:ext cx="82296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0851242-65A8-0B99-FADE-3D1330686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9128" y="2922624"/>
            <a:ext cx="2811880" cy="3409950"/>
          </a:xfrm>
        </p:spPr>
        <p:txBody>
          <a:bodyPr anchor="t">
            <a:normAutofit/>
          </a:bodyPr>
          <a:lstStyle/>
          <a:p>
            <a:r>
              <a:rPr lang="sk-SK" dirty="0"/>
              <a:t>Zásaditosť</a:t>
            </a:r>
          </a:p>
          <a:p>
            <a:r>
              <a:rPr lang="sk-SK" dirty="0"/>
              <a:t>horká chuť</a:t>
            </a:r>
          </a:p>
          <a:p>
            <a:r>
              <a:rPr lang="sk-SK" dirty="0"/>
              <a:t>tvoria soli</a:t>
            </a:r>
          </a:p>
        </p:txBody>
      </p:sp>
    </p:spTree>
    <p:extLst>
      <p:ext uri="{BB962C8B-B14F-4D97-AF65-F5344CB8AC3E}">
        <p14:creationId xmlns:p14="http://schemas.microsoft.com/office/powerpoint/2010/main" val="184831687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0F3EA30-E1E3-A047-A74E-E931AAD1B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21842"/>
            <a:ext cx="3156857" cy="26426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Klasifikácia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14AB321-B393-7794-CA15-410A288F4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4304538"/>
            <a:ext cx="3156857" cy="13624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cap="all" spc="300" dirty="0" err="1"/>
              <a:t>Podľa</a:t>
            </a:r>
            <a:r>
              <a:rPr lang="en-US" sz="1800" b="1" cap="all" spc="300" dirty="0"/>
              <a:t>: </a:t>
            </a:r>
            <a:r>
              <a:rPr lang="en-US" sz="1800" b="1" cap="all" spc="300" dirty="0" err="1"/>
              <a:t>štruktúry</a:t>
            </a:r>
            <a:r>
              <a:rPr lang="en-US" sz="1800" b="1" cap="all" spc="300" dirty="0"/>
              <a:t>, </a:t>
            </a:r>
            <a:r>
              <a:rPr lang="en-US" sz="1800" b="1" cap="all" spc="300" dirty="0" err="1"/>
              <a:t>pôvodu</a:t>
            </a:r>
            <a:r>
              <a:rPr lang="en-US" sz="1800" b="1" cap="all" spc="300" dirty="0"/>
              <a:t>, </a:t>
            </a:r>
            <a:r>
              <a:rPr lang="en-US" sz="1800" b="1" cap="all" spc="300" dirty="0" err="1"/>
              <a:t>účinku</a:t>
            </a:r>
            <a:endParaRPr lang="en-US" sz="1800" b="1" cap="all" spc="3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50527CE-FCD0-40C8-B37A-39331C2A4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011930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Obrázok 7">
            <a:extLst>
              <a:ext uri="{FF2B5EF4-FFF2-40B4-BE49-F238E27FC236}">
                <a16:creationId xmlns:a16="http://schemas.microsoft.com/office/drawing/2014/main" id="{47C91F9C-D7AC-B6D5-DC01-A7A9FCCFC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641" y="1100398"/>
            <a:ext cx="6876288" cy="472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22821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59" name="Straight Connector 615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161" name="Rectangle 616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E8BEB55-B96E-B606-A8B0-6E979558E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758" y="1039876"/>
            <a:ext cx="10616609" cy="150812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Príklady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2EE8C1F-5994-7700-8FBB-31C3E06D5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5986" y="2648893"/>
            <a:ext cx="10616609" cy="5909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cap="all" spc="300"/>
              <a:t>Nikotín, kofeín, morfín, chinín</a:t>
            </a:r>
          </a:p>
        </p:txBody>
      </p:sp>
      <p:pic>
        <p:nvPicPr>
          <p:cNvPr id="6154" name="Picture 10" descr="Chinin – Wikipedie">
            <a:extLst>
              <a:ext uri="{FF2B5EF4-FFF2-40B4-BE49-F238E27FC236}">
                <a16:creationId xmlns:a16="http://schemas.microsoft.com/office/drawing/2014/main" id="{2E899594-EFE3-BB7C-35A3-A08B46631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6755" y="4090991"/>
            <a:ext cx="2720994" cy="1436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Nikotín – Wikipédia">
            <a:extLst>
              <a:ext uri="{FF2B5EF4-FFF2-40B4-BE49-F238E27FC236}">
                <a16:creationId xmlns:a16="http://schemas.microsoft.com/office/drawing/2014/main" id="{73456196-B31A-D295-B002-A6331E2DC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13942" y="3545633"/>
            <a:ext cx="2705858" cy="1982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Čaj a kofeín - všetko čo o ňom potrebujete vedieť | OBCHOD ČAROVŇA">
            <a:extLst>
              <a:ext uri="{FF2B5EF4-FFF2-40B4-BE49-F238E27FC236}">
                <a16:creationId xmlns:a16="http://schemas.microsoft.com/office/drawing/2014/main" id="{50A68417-78BB-D3C9-CBD9-864104255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66679" y="3506851"/>
            <a:ext cx="1904625" cy="2020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Morfin – WikiSkripta">
            <a:extLst>
              <a:ext uri="{FF2B5EF4-FFF2-40B4-BE49-F238E27FC236}">
                <a16:creationId xmlns:a16="http://schemas.microsoft.com/office/drawing/2014/main" id="{1115846E-798D-DE69-41CA-A8F55FA5A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82392" y="3506851"/>
            <a:ext cx="2377438" cy="2020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0527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83" name="Straight Connector 717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184" name="Rectangle 717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3E649C5-D3BC-21FC-3CC3-C20931EEB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70" y="1171145"/>
            <a:ext cx="10168106" cy="9555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800"/>
              <a:t>Účinky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B70FBFF-996B-DD26-8F59-BBFDA1F70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570" y="2201600"/>
            <a:ext cx="10168106" cy="5407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cap="all" spc="300"/>
              <a:t>Stimulujú, liečia, ale aj návykové a toxické</a:t>
            </a:r>
          </a:p>
        </p:txBody>
      </p:sp>
      <p:cxnSp>
        <p:nvCxnSpPr>
          <p:cNvPr id="7185" name="Straight Connector 7180">
            <a:extLst>
              <a:ext uri="{FF2B5EF4-FFF2-40B4-BE49-F238E27FC236}">
                <a16:creationId xmlns:a16="http://schemas.microsoft.com/office/drawing/2014/main" id="{6CE0D2A5-C167-FB61-F32A-674B344F2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914400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2" name="Picture 4" descr="Užívateľom drog hrozia nebezpečné infekcie - Substitučná liečba">
            <a:extLst>
              <a:ext uri="{FF2B5EF4-FFF2-40B4-BE49-F238E27FC236}">
                <a16:creationId xmlns:a16="http://schemas.microsoft.com/office/drawing/2014/main" id="{3D1DC253-A1B3-9D27-79E1-615859AF4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6336" y="2886923"/>
            <a:ext cx="4874410" cy="329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Prečo môžu byť lieky aj škodlivé? - VEDA NA DOSAH">
            <a:extLst>
              <a:ext uri="{FF2B5EF4-FFF2-40B4-BE49-F238E27FC236}">
                <a16:creationId xmlns:a16="http://schemas.microsoft.com/office/drawing/2014/main" id="{CDFAFF41-1FD5-4685-AAE2-A23C508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82500" y="2886923"/>
            <a:ext cx="4943222" cy="329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248940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99" name="Straight Connector 819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201" name="Rectangle 820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CDDF858-D464-D39B-85B4-3F4514DFC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0442" y="4474103"/>
            <a:ext cx="7031117" cy="93390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/>
              <a:t>V medicíne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22971E5-0956-D89F-79F8-6847FB208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0442" y="5765290"/>
            <a:ext cx="7031117" cy="6407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cap="all" spc="300"/>
              <a:t>Analgetiká, antimalariká, anestetiká, lieky na nervový systém</a:t>
            </a:r>
          </a:p>
        </p:txBody>
      </p:sp>
      <p:pic>
        <p:nvPicPr>
          <p:cNvPr id="8194" name="Picture 2" descr="Nervový systém človeka – ako funguje a ako na výživu nervov? | etabletka">
            <a:extLst>
              <a:ext uri="{FF2B5EF4-FFF2-40B4-BE49-F238E27FC236}">
                <a16:creationId xmlns:a16="http://schemas.microsoft.com/office/drawing/2014/main" id="{974ED7B6-3133-1CFB-33C7-9303D3C0A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63985" y="409300"/>
            <a:ext cx="5864030" cy="3899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203" name="Straight Connector 8202">
            <a:extLst>
              <a:ext uri="{FF2B5EF4-FFF2-40B4-BE49-F238E27FC236}">
                <a16:creationId xmlns:a16="http://schemas.microsoft.com/office/drawing/2014/main" id="{503FCC9E-47A2-69B7-68E7-7FA95EAD5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1680" y="5662526"/>
            <a:ext cx="548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752557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23" name="Straight Connector 9222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9225" name="Rectangle 9224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090822C-897C-C6C7-30E5-CA3A27014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17" y="952500"/>
            <a:ext cx="4124557" cy="35242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Riziká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5BA028E-D2A3-6666-5ABA-414F24CCC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118" y="5374291"/>
            <a:ext cx="4057882" cy="9725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500" b="1" cap="all" spc="300"/>
              <a:t>Predávkovanie, závislosť, dôležité je dávkovanie</a:t>
            </a:r>
          </a:p>
        </p:txBody>
      </p:sp>
      <p:cxnSp>
        <p:nvCxnSpPr>
          <p:cNvPr id="9227" name="Straight Connector 9226">
            <a:extLst>
              <a:ext uri="{FF2B5EF4-FFF2-40B4-BE49-F238E27FC236}">
                <a16:creationId xmlns:a16="http://schemas.microsoft.com/office/drawing/2014/main" id="{A2D508B3-A66C-833E-D929-8DC21163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8" name="Picture 2" descr="VITAMMY PILLA SLIDE 7x4 Týždenný dávkovač liekov s rozdelením na 4 denné  dávky">
            <a:extLst>
              <a:ext uri="{FF2B5EF4-FFF2-40B4-BE49-F238E27FC236}">
                <a16:creationId xmlns:a16="http://schemas.microsoft.com/office/drawing/2014/main" id="{0E9BC031-6C67-92C5-3273-BE42EC06E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039"/>
          <a:stretch>
            <a:fillRect/>
          </a:stretch>
        </p:blipFill>
        <p:spPr bwMode="auto">
          <a:xfrm>
            <a:off x="5261956" y="10"/>
            <a:ext cx="6930043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61106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49" name="Straight Connector 1024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251" name="Rectangle 1025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B029965-FE6D-92BE-37A8-F4EA914AA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7528" y="1032764"/>
            <a:ext cx="4308672" cy="3224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Ďakujeme za pozornosť</a:t>
            </a:r>
          </a:p>
        </p:txBody>
      </p:sp>
      <p:pic>
        <p:nvPicPr>
          <p:cNvPr id="10244" name="Picture 4" descr="Videá - chémia |amlsk.com">
            <a:extLst>
              <a:ext uri="{FF2B5EF4-FFF2-40B4-BE49-F238E27FC236}">
                <a16:creationId xmlns:a16="http://schemas.microsoft.com/office/drawing/2014/main" id="{BC103C61-1466-8FD4-F351-4EFF7AC6D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9" r="17141"/>
          <a:stretch>
            <a:fillRect/>
          </a:stretch>
        </p:blipFill>
        <p:spPr bwMode="auto">
          <a:xfrm>
            <a:off x="20" y="10"/>
            <a:ext cx="69311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253" name="Straight Connector 10252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815727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89</Words>
  <Application>Microsoft Office PowerPoint</Application>
  <PresentationFormat>Širokouhlá</PresentationFormat>
  <Paragraphs>25</Paragraphs>
  <Slides>10</Slides>
  <Notes>1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10</vt:i4>
      </vt:variant>
    </vt:vector>
  </HeadingPairs>
  <TitlesOfParts>
    <vt:vector size="15" baseType="lpstr">
      <vt:lpstr>Aptos</vt:lpstr>
      <vt:lpstr>Aptos Black</vt:lpstr>
      <vt:lpstr>Arial</vt:lpstr>
      <vt:lpstr>Grandview Display</vt:lpstr>
      <vt:lpstr>DashVTI</vt:lpstr>
      <vt:lpstr>ALKALOIDY</vt:lpstr>
      <vt:lpstr>Čo sú alkaloidy</vt:lpstr>
      <vt:lpstr>Výskyt v prírode</vt:lpstr>
      <vt:lpstr>Chemické vlastnosti</vt:lpstr>
      <vt:lpstr>Klasifikácia</vt:lpstr>
      <vt:lpstr>Príklady</vt:lpstr>
      <vt:lpstr>Účinky</vt:lpstr>
      <vt:lpstr>V medicíne</vt:lpstr>
      <vt:lpstr>Riziká</vt:lpstr>
      <vt:lpstr>Ďakujeme za pozornosť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Herková Monika</dc:creator>
  <cp:lastModifiedBy>Herková Monika</cp:lastModifiedBy>
  <cp:revision>23</cp:revision>
  <dcterms:created xsi:type="dcterms:W3CDTF">2026-04-14T07:01:06Z</dcterms:created>
  <dcterms:modified xsi:type="dcterms:W3CDTF">2026-04-14T07:31:42Z</dcterms:modified>
</cp:coreProperties>
</file>