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7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6BF685-CD91-D731-217B-F39953F03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69C0173-0C27-53F6-4B10-7B5BA2549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C0D6402-857F-20C9-961F-1F5AFDE42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B225D9F-6D85-491B-6C72-337C3800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89455C4-B1EF-FDBA-5BA3-2517E8A3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576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34E3FC-7C1C-09B4-306F-C59A7D67D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5B05796-7A21-BCC4-F105-E147DA33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D014183-82CF-171E-83D5-3979BDFD0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2E7555C-EFB7-3A51-0498-6D2B7BE96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2CFF1A7-0DCA-C04A-FC62-1F8E74321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013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9200E8-5D75-6F44-A663-649D3C93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26C60A1-8488-C394-D369-2E11F3D45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FD43541-B3F4-4A66-BBE4-1F4F4348C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10CA8EA-290A-6D0A-537B-23BCECCFB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15BDB5B-D603-4AF8-4E45-49623CC9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901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694A2D-4522-3B69-4B5A-3FFCFB742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81FD10A-D9E9-543C-0253-85C4AD106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54FBAD9A-008D-F1CA-6089-3177A1F0A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915A128F-F70B-050C-C672-3582C676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7B6C776-439F-D98B-29D9-AAD64571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3E1951C-AC80-EF97-C110-FE90DDEF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2080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F1FCC0-52CD-B422-F8E7-669825BD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02035F7-9D69-573D-9A72-1AA1669B9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8E5889B0-5176-F9AE-38FE-3487AC4B1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9A80B45-BF0E-8572-E5B7-ED09A42D3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05BCDD7B-F7E5-D4BF-C892-A6750ADD2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FF75604B-4604-E691-D780-E0C2DF0B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2485AF51-DDE7-73AF-8AAF-D2A776427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B168B699-7889-4DAA-4D90-D68050EB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32434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48F257-EB47-EBF8-C149-E476C005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BCC0451C-06DD-9AD6-B79A-C935B4C27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EA08B785-B336-155F-EBD0-5019BDF7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714E5B76-E544-6795-CE2E-EF36BC5C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55039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A418EDA3-1316-F811-D08A-B8BDF334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64DBD866-30F5-9887-1F91-CDFFF5030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ABB3A24-59EF-1997-EDC0-2D18125D8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6953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AE8E92-5A3F-781C-9062-DF4B90C6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0CCAE8D-3D1C-0682-7CA8-648FFC4BE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9A5984D-49D1-07C8-5109-54D32DCCF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D91138A9-5817-F269-2BA5-1C503D7F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D19AF7C-BF00-4DCD-CB22-FD6BA19D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1C31ED0D-FEE7-8103-F633-CB278CC8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5135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BE567F-8DBF-638A-E83C-CF98E971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A08542F6-CAA0-971D-9370-AB78027AA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70F0110-9A9E-3234-767B-109237DA9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5C56229B-906C-65C7-A93B-345ECC44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334A1F07-DED5-5537-9B84-86BA59B8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F9109096-7783-9CAF-357D-2566856E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719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D7A9C8F-DC07-1401-6225-D251A7C63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612E7722-0070-EA4B-43A7-2EF8DC5D3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F38255F-CB9A-A0E5-536C-F53A782F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2CDBF7D-EB88-5EC7-553C-AF81C684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E723476-1BDC-0D4F-8875-C3924155B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00103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5BF775D2-C769-B05B-A291-4CBD61CB7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FCDD2B76-F6B3-291C-73C4-00D4DDB8B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08A0E95-B414-B012-09EE-6BA58077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85647B4-1998-8C99-0CFE-42CBCD4E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00E83A24-3A20-56D9-7E92-ADA6867B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3385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E0489E77-EC48-23CE-F39D-7F87AC77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8AAC4A7-2B97-E65C-4BAF-038D44D4C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DB30845-5156-43C8-F516-3DD524844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4F121-F118-4044-8FFC-F6262631A788}" type="datetimeFigureOut">
              <a:rPr lang="sk-SK" smtClean="0"/>
              <a:t>17. 12. 2025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52C18D5-E37A-2161-093C-B1794BC3C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D407E8D-1FFE-8746-560C-B7DD243EF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EF3AB-BD72-4EF3-8F77-D0446AA9DD08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95989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dc.sk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AB17C8-41AD-239C-52EA-17E416F50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6202"/>
            <a:ext cx="9144000" cy="2600551"/>
          </a:xfrm>
        </p:spPr>
        <p:txBody>
          <a:bodyPr>
            <a:normAutofit/>
          </a:bodyPr>
          <a:lstStyle/>
          <a:p>
            <a:r>
              <a:rPr lang="en-US" sz="7200" b="1">
                <a:solidFill>
                  <a:schemeClr val="bg1"/>
                </a:solidFill>
              </a:rPr>
              <a:t>Alkohol ako liek</a:t>
            </a:r>
            <a:endParaRPr lang="sk-SK" sz="7200" b="1">
              <a:solidFill>
                <a:schemeClr val="bg1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430C233-7855-79CB-587D-7D19C4499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45878"/>
            <a:ext cx="7685315" cy="1655762"/>
          </a:xfrm>
        </p:spPr>
        <p:txBody>
          <a:bodyPr/>
          <a:lstStyle/>
          <a:p>
            <a:pPr algn="r"/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Rei A. Brozman</a:t>
            </a:r>
            <a:endParaRPr lang="sk-SK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5969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>
                <a:lumMod val="95000"/>
              </a:schemeClr>
            </a:gs>
            <a:gs pos="0">
              <a:schemeClr val="bg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A5124E1C-987B-42EC-2A10-E2D62DA8A1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6740" y="3886200"/>
            <a:ext cx="11018520" cy="448056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6F2E648-FBBE-0EF7-40E3-A05224E14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i="1"/>
              <a:t>M</a:t>
            </a:r>
            <a:r>
              <a:rPr lang="sk-SK" b="1" i="1"/>
              <a:t>ôže byť alkohol považovaný za liek?</a:t>
            </a:r>
          </a:p>
        </p:txBody>
      </p:sp>
      <p:pic>
        <p:nvPicPr>
          <p:cNvPr id="11" name="Zástupný objekt pre obsah 10" descr="Obrázok, na ktorom je symbol, logo&#10;&#10;Obsah vygenerovaný pomocou AI môže byť nesprávny.">
            <a:extLst>
              <a:ext uri="{FF2B5EF4-FFF2-40B4-BE49-F238E27FC236}">
                <a16:creationId xmlns:a16="http://schemas.microsoft.com/office/drawing/2014/main" id="{C01A5E17-C1EA-E16B-6524-2365BDF74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63" y="340851"/>
            <a:ext cx="1865376" cy="1865376"/>
          </a:xfrm>
        </p:spPr>
      </p:pic>
      <p:pic>
        <p:nvPicPr>
          <p:cNvPr id="13" name="Obrázok 12">
            <a:extLst>
              <a:ext uri="{FF2B5EF4-FFF2-40B4-BE49-F238E27FC236}">
                <a16:creationId xmlns:a16="http://schemas.microsoft.com/office/drawing/2014/main" id="{E93F8081-431E-7F86-C240-8DDE9AB41F2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2000"/>
          </a:blip>
          <a:stretch>
            <a:fillRect/>
          </a:stretch>
        </p:blipFill>
        <p:spPr>
          <a:xfrm rot="9735828">
            <a:off x="5624585" y="-728335"/>
            <a:ext cx="7554427" cy="400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544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E3A662-5966-2E6E-2786-4C43A099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845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sk-SK" sz="4800" b="1">
                <a:solidFill>
                  <a:schemeClr val="bg1"/>
                </a:solidFill>
              </a:rPr>
              <a:t>Alkohol v histórii a medicíne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B09600-F97B-BD84-7221-0EE7A5F2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3828"/>
            <a:ext cx="10515600" cy="12079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k-SK" sz="3200" i="1">
                <a:solidFill>
                  <a:schemeClr val="bg1"/>
                </a:solidFill>
              </a:rPr>
              <a:t>Dezinfekcia rán</a:t>
            </a:r>
          </a:p>
          <a:p>
            <a:pPr marL="0" indent="0" algn="ctr">
              <a:buNone/>
            </a:pPr>
            <a:r>
              <a:rPr lang="sk-SK" sz="3200" i="1">
                <a:solidFill>
                  <a:schemeClr val="bg1"/>
                </a:solidFill>
              </a:rPr>
              <a:t>Sirupy, tinktúry</a:t>
            </a:r>
          </a:p>
        </p:txBody>
      </p:sp>
      <p:pic>
        <p:nvPicPr>
          <p:cNvPr id="5" name="Obrázok 4" descr="Obrázok, na ktorom je text, nápoj, fľaša, sklenená fľaša&#10;&#10;Obsah vygenerovaný pomocou AI môže byť nesprávny.">
            <a:extLst>
              <a:ext uri="{FF2B5EF4-FFF2-40B4-BE49-F238E27FC236}">
                <a16:creationId xmlns:a16="http://schemas.microsoft.com/office/drawing/2014/main" id="{D4C66856-7954-A758-7DF6-3DBDE287D5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91964">
            <a:off x="0" y="1971555"/>
            <a:ext cx="4886445" cy="4886445"/>
          </a:xfrm>
          <a:prstGeom prst="rect">
            <a:avLst/>
          </a:prstGeom>
        </p:spPr>
      </p:pic>
      <p:pic>
        <p:nvPicPr>
          <p:cNvPr id="7" name="Obrázok 6" descr="Obrázok, na ktorom je jedlo, nápoj, alkohol, sklenená fľaša&#10;&#10;Obsah vygenerovaný pomocou AI môže byť nesprávny.">
            <a:extLst>
              <a:ext uri="{FF2B5EF4-FFF2-40B4-BE49-F238E27FC236}">
                <a16:creationId xmlns:a16="http://schemas.microsoft.com/office/drawing/2014/main" id="{6B5B7995-C3CB-2FCA-9982-7D4413C10D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932">
            <a:off x="8764681" y="2126550"/>
            <a:ext cx="2691407" cy="405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550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030E10-D028-16A2-10BC-37166255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00"/>
            <a:ext cx="10515600" cy="1144588"/>
          </a:xfrm>
        </p:spPr>
        <p:txBody>
          <a:bodyPr>
            <a:normAutofit/>
          </a:bodyPr>
          <a:lstStyle/>
          <a:p>
            <a:pPr algn="ctr"/>
            <a:r>
              <a:rPr lang="sk-SK" sz="4800" b="1">
                <a:solidFill>
                  <a:schemeClr val="bg1"/>
                </a:solidFill>
              </a:rPr>
              <a:t>Chemická podstata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D81791-30DA-2FA4-1EC6-C184F6934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0684"/>
            <a:ext cx="10515600" cy="3746278"/>
          </a:xfrm>
        </p:spPr>
        <p:txBody>
          <a:bodyPr/>
          <a:lstStyle/>
          <a:p>
            <a:r>
              <a:rPr lang="sk-SK" b="1">
                <a:solidFill>
                  <a:schemeClr val="bg1"/>
                </a:solidFill>
              </a:rPr>
              <a:t>Etanol</a:t>
            </a:r>
            <a:r>
              <a:rPr lang="sk-SK">
                <a:solidFill>
                  <a:schemeClr val="bg1"/>
                </a:solidFill>
              </a:rPr>
              <a:t> (C₂H₅OH)</a:t>
            </a:r>
          </a:p>
          <a:p>
            <a:r>
              <a:rPr lang="sk-SK">
                <a:solidFill>
                  <a:schemeClr val="bg1"/>
                </a:solidFill>
              </a:rPr>
              <a:t>Jednoduchá organická molekula</a:t>
            </a:r>
          </a:p>
          <a:p>
            <a:r>
              <a:rPr lang="sk-SK">
                <a:solidFill>
                  <a:schemeClr val="bg1"/>
                </a:solidFill>
              </a:rPr>
              <a:t>Primárne alkoholy</a:t>
            </a:r>
          </a:p>
          <a:p>
            <a:r>
              <a:rPr lang="sk-SK">
                <a:solidFill>
                  <a:schemeClr val="bg1"/>
                </a:solidFill>
              </a:rPr>
              <a:t>Rozpúšťadlo/dezinfekčné činidlo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2E317934-4515-3D6B-AD4B-E87E5409A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616" y="3477258"/>
            <a:ext cx="4442941" cy="269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0302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82D4220-CF8A-C837-A51F-1A085F37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8167"/>
            <a:ext cx="10515600" cy="1241666"/>
          </a:xfrm>
        </p:spPr>
        <p:txBody>
          <a:bodyPr/>
          <a:lstStyle/>
          <a:p>
            <a:pPr marL="0" indent="0" algn="ctr">
              <a:buNone/>
            </a:pPr>
            <a:r>
              <a:rPr lang="sk-SK" sz="3200"/>
              <a:t>Pocit uvoľnenia – </a:t>
            </a:r>
            <a:r>
              <a:rPr lang="sk-SK" sz="3200" i="1"/>
              <a:t>dojem liečivého účinku,</a:t>
            </a:r>
          </a:p>
          <a:p>
            <a:pPr marL="0" indent="0" algn="ctr">
              <a:buNone/>
            </a:pPr>
            <a:r>
              <a:rPr lang="sk-SK" sz="4000" b="1"/>
              <a:t>Predstavuje ale zdravotné riziká</a:t>
            </a:r>
          </a:p>
          <a:p>
            <a:pPr algn="ctr"/>
            <a:endParaRPr lang="sk-SK" i="1"/>
          </a:p>
        </p:txBody>
      </p:sp>
    </p:spTree>
    <p:extLst>
      <p:ext uri="{BB962C8B-B14F-4D97-AF65-F5344CB8AC3E}">
        <p14:creationId xmlns:p14="http://schemas.microsoft.com/office/powerpoint/2010/main" val="237471453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B5ACEE9-3270-A5F7-F118-861B52FC8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0932"/>
            <a:ext cx="10515600" cy="1603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sk-SK" sz="3600">
                <a:solidFill>
                  <a:schemeClr val="bg1"/>
                </a:solidFill>
              </a:rPr>
              <a:t>Malé množstvá môžu pôsobiť </a:t>
            </a:r>
            <a:r>
              <a:rPr lang="sk-SK" sz="3600" b="1">
                <a:solidFill>
                  <a:schemeClr val="bg1"/>
                </a:solidFill>
              </a:rPr>
              <a:t>pozitívne</a:t>
            </a:r>
            <a:r>
              <a:rPr lang="sk-SK" sz="3600">
                <a:solidFill>
                  <a:schemeClr val="bg1"/>
                </a:solidFill>
              </a:rPr>
              <a:t> na </a:t>
            </a:r>
            <a:r>
              <a:rPr lang="sk-SK" sz="3600" b="1">
                <a:solidFill>
                  <a:schemeClr val="bg1"/>
                </a:solidFill>
              </a:rPr>
              <a:t>kardiovaskulárny systém</a:t>
            </a: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5C6BFEE2-5319-F179-ADE6-90713DBE89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8000"/>
          </a:blip>
          <a:stretch>
            <a:fillRect/>
          </a:stretch>
        </p:blipFill>
        <p:spPr>
          <a:xfrm rot="20060910">
            <a:off x="9784902" y="235916"/>
            <a:ext cx="3137795" cy="3137795"/>
          </a:xfrm>
          <a:prstGeom prst="rect">
            <a:avLst/>
          </a:prstGeom>
        </p:spPr>
      </p:pic>
      <p:pic>
        <p:nvPicPr>
          <p:cNvPr id="9" name="Obrázok 8" descr="Obrázok, na ktorom je kontajner, sklo, nápojové sklo, poháre na stopke&#10;&#10;Obsah vygenerovaný pomocou AI môže byť nesprávny.">
            <a:extLst>
              <a:ext uri="{FF2B5EF4-FFF2-40B4-BE49-F238E27FC236}">
                <a16:creationId xmlns:a16="http://schemas.microsoft.com/office/drawing/2014/main" id="{96233FB9-6499-3CFE-13E9-9EF3B4E2761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240" y="4052244"/>
            <a:ext cx="3049788" cy="304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76526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84EE07-99F1-0695-FDBB-5FCC9962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1018"/>
            <a:ext cx="10515600" cy="1325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r"/>
            <a:r>
              <a:rPr lang="sk-SK" sz="4800" b="1">
                <a:solidFill>
                  <a:schemeClr val="bg1"/>
                </a:solidFill>
              </a:rPr>
              <a:t>Spoločenský a kultúrny rozmer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D0C7BF4-45A6-1BE2-4AEB-FAC789F6B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07184"/>
            <a:ext cx="10515600" cy="43513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sk-SK" i="1">
                <a:solidFill>
                  <a:schemeClr val="bg1"/>
                </a:solidFill>
              </a:rPr>
              <a:t>Tradície, oslavy, rituály</a:t>
            </a:r>
          </a:p>
          <a:p>
            <a:r>
              <a:rPr lang="sk-SK" sz="3200">
                <a:solidFill>
                  <a:schemeClr val="bg1"/>
                </a:solidFill>
              </a:rPr>
              <a:t>Môže brániť </a:t>
            </a:r>
            <a:r>
              <a:rPr lang="sk-SK" sz="3200" b="1">
                <a:solidFill>
                  <a:schemeClr val="bg1"/>
                </a:solidFill>
              </a:rPr>
              <a:t>objektívnemu pohľadu </a:t>
            </a:r>
            <a:r>
              <a:rPr lang="sk-SK" sz="3200">
                <a:solidFill>
                  <a:schemeClr val="bg1"/>
                </a:solidFill>
              </a:rPr>
              <a:t>na liečivé účinky</a:t>
            </a:r>
          </a:p>
        </p:txBody>
      </p:sp>
    </p:spTree>
    <p:extLst>
      <p:ext uri="{BB962C8B-B14F-4D97-AF65-F5344CB8AC3E}">
        <p14:creationId xmlns:p14="http://schemas.microsoft.com/office/powerpoint/2010/main" val="428888367"/>
      </p:ext>
    </p:extLst>
  </p:cSld>
  <p:clrMapOvr>
    <a:masterClrMapping/>
  </p:clrMapOvr>
  <p:transition spd="slow">
    <p:push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>
                <a:lumMod val="95000"/>
              </a:schemeClr>
            </a:gs>
            <a:gs pos="0">
              <a:schemeClr val="bg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bg1">
                <a:lumMod val="95000"/>
              </a:schemeClr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237FD1-56E3-5CEC-A6D7-37462E0E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7882"/>
            <a:ext cx="10515600" cy="1325563"/>
          </a:xfrm>
        </p:spPr>
        <p:txBody>
          <a:bodyPr/>
          <a:lstStyle/>
          <a:p>
            <a:r>
              <a:rPr lang="sk-SK" b="1"/>
              <a:t>Kedy môže byť látka považovaná za liek?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553E77C-A5D5-972E-6583-1E789A8E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7886"/>
            <a:ext cx="10515600" cy="4351338"/>
          </a:xfrm>
        </p:spPr>
        <p:txBody>
          <a:bodyPr/>
          <a:lstStyle/>
          <a:p>
            <a:r>
              <a:rPr lang="sk-SK"/>
              <a:t>Presne určené dávkovanie, terapeutické rozmedzie</a:t>
            </a:r>
          </a:p>
          <a:p>
            <a:r>
              <a:rPr lang="sk-SK"/>
              <a:t>Jasne známe a uvedené riziká</a:t>
            </a: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C661746F-A382-D3DB-A684-B4089A791C32}"/>
              </a:ext>
            </a:extLst>
          </p:cNvPr>
          <p:cNvSpPr txBox="1">
            <a:spLocks/>
          </p:cNvSpPr>
          <p:nvPr/>
        </p:nvSpPr>
        <p:spPr>
          <a:xfrm>
            <a:off x="838200" y="43235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b="1" i="1">
                <a:solidFill>
                  <a:srgbClr val="C00000"/>
                </a:solidFill>
              </a:rPr>
              <a:t>Alkohol tieto kritéria nespĺňa</a:t>
            </a:r>
          </a:p>
        </p:txBody>
      </p:sp>
      <p:pic>
        <p:nvPicPr>
          <p:cNvPr id="6" name="Obrázok 5" descr="Obrázok, na ktorom je text, kniha, snímka obrazovky, krabica&#10;&#10;Obsah vygenerovaný pomocou AI môže byť nesprávny.">
            <a:extLst>
              <a:ext uri="{FF2B5EF4-FFF2-40B4-BE49-F238E27FC236}">
                <a16:creationId xmlns:a16="http://schemas.microsoft.com/office/drawing/2014/main" id="{F2C664AC-77A0-5C7C-A036-E794FEB9A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897" y="3338994"/>
            <a:ext cx="3244462" cy="204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61470"/>
      </p:ext>
    </p:extLst>
  </p:cSld>
  <p:clrMapOvr>
    <a:masterClrMapping/>
  </p:clrMapOvr>
  <p:transition spd="slow">
    <p:cover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9CC8A8-C535-E8CE-DF7D-73ED2D667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57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sk-SK" sz="6600" b="1">
                <a:solidFill>
                  <a:schemeClr val="bg1"/>
                </a:solidFill>
              </a:rPr>
              <a:t>Záver</a:t>
            </a:r>
            <a:br>
              <a:rPr lang="sk-SK" sz="6600" b="1">
                <a:solidFill>
                  <a:schemeClr val="bg1"/>
                </a:solidFill>
              </a:rPr>
            </a:br>
            <a:r>
              <a:rPr lang="sk-SK" sz="4000">
                <a:solidFill>
                  <a:schemeClr val="bg1"/>
                </a:solidFill>
              </a:rPr>
              <a:t>Ďakujem za pozornosť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8D45A6A-69D0-CC71-89A6-378EE1A41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29192"/>
            <a:ext cx="10515600" cy="132556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sk-SK" sz="1600">
                <a:solidFill>
                  <a:schemeClr val="bg1"/>
                </a:solidFill>
              </a:rPr>
              <a:t>Zdroje:</a:t>
            </a:r>
          </a:p>
          <a:p>
            <a:pPr marL="0" indent="0" algn="ctr">
              <a:buNone/>
            </a:pPr>
            <a:endParaRPr lang="sk-SK" sz="160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sk-SK" sz="2000" b="1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www.adc.sk</a:t>
            </a:r>
            <a:endParaRPr lang="sk-SK" sz="2000" b="1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sk-SK" sz="2000" b="1">
                <a:solidFill>
                  <a:schemeClr val="bg1"/>
                </a:solidFill>
              </a:rPr>
              <a:t>Alkohol a zdravie (alcohol and health). V. Bada, časopis „Cardiol“</a:t>
            </a: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F540DAF9-BB04-0895-1BA0-6B3EA779ACBB}"/>
              </a:ext>
            </a:extLst>
          </p:cNvPr>
          <p:cNvCxnSpPr/>
          <p:nvPr/>
        </p:nvCxnSpPr>
        <p:spPr>
          <a:xfrm>
            <a:off x="545939" y="5557454"/>
            <a:ext cx="11100122" cy="0"/>
          </a:xfrm>
          <a:prstGeom prst="line">
            <a:avLst/>
          </a:prstGeom>
          <a:ln>
            <a:solidFill>
              <a:schemeClr val="bg1">
                <a:alpha val="59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752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130</Words>
  <Application>Microsoft Office PowerPoint</Application>
  <PresentationFormat>Širokouhlá</PresentationFormat>
  <Paragraphs>26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Motív Office</vt:lpstr>
      <vt:lpstr>Alkohol ako liek</vt:lpstr>
      <vt:lpstr>Môže byť alkohol považovaný za liek?</vt:lpstr>
      <vt:lpstr>Alkohol v histórii a medicíne</vt:lpstr>
      <vt:lpstr>Chemická podstata</vt:lpstr>
      <vt:lpstr>Prezentácia programu PowerPoint</vt:lpstr>
      <vt:lpstr>Prezentácia programu PowerPoint</vt:lpstr>
      <vt:lpstr>Spoločenský a kultúrny rozmer</vt:lpstr>
      <vt:lpstr>Kedy môže byť látka považovaná za liek?</vt:lpstr>
      <vt:lpstr>Záver Ďakujem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Dušan Brozman</dc:creator>
  <cp:lastModifiedBy>Dušan Brozman</cp:lastModifiedBy>
  <cp:revision>1</cp:revision>
  <dcterms:created xsi:type="dcterms:W3CDTF">2025-12-17T17:09:57Z</dcterms:created>
  <dcterms:modified xsi:type="dcterms:W3CDTF">2025-12-17T18:20:38Z</dcterms:modified>
</cp:coreProperties>
</file>