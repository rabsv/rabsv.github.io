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934CF-E673-9B1E-EEE9-985FEEB066AE}" v="192" dt="2025-05-18T21:15:06.361"/>
    <p1510:client id="{8DB607A2-497C-668D-E740-1BC9BB5298D2}" v="17" dt="2025-05-18T21:04:40.109"/>
    <p1510:client id="{B1BE14AD-10CA-1D53-A09E-706C57F86147}" v="21" dt="2025-05-18T21:01:52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4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2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4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62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5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6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7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0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4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05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4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5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4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324846" y="978407"/>
            <a:ext cx="4358503" cy="3137941"/>
          </a:xfrm>
        </p:spPr>
        <p:txBody>
          <a:bodyPr anchor="t">
            <a:normAutofit/>
          </a:bodyPr>
          <a:lstStyle/>
          <a:p>
            <a:r>
              <a:rPr lang="sk-SK" sz="6000">
                <a:latin typeface="Aptos Display"/>
                <a:cs typeface="Arial"/>
              </a:rPr>
              <a:t>Filozofia katolicizmu</a:t>
            </a:r>
            <a:endParaRPr lang="sk-SK" sz="6000"/>
          </a:p>
        </p:txBody>
      </p:sp>
      <p:pic>
        <p:nvPicPr>
          <p:cNvPr id="8" name="Obrázok 7" descr="Obrázok, na ktorom je umenie, maľovanie, posvätné miesta, vnútri&#10;&#10;Obsah vygenerovaný pomocou AI môže byť nesprávny.">
            <a:extLst>
              <a:ext uri="{FF2B5EF4-FFF2-40B4-BE49-F238E27FC236}">
                <a16:creationId xmlns:a16="http://schemas.microsoft.com/office/drawing/2014/main" id="{7329E110-87DA-3FEF-E97A-EAC5E5A1AE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79" r="12278" b="2"/>
          <a:stretch>
            <a:fillRect/>
          </a:stretch>
        </p:blipFill>
        <p:spPr>
          <a:xfrm>
            <a:off x="535521" y="508090"/>
            <a:ext cx="6323740" cy="5745379"/>
          </a:xfrm>
          <a:prstGeom prst="rect">
            <a:avLst/>
          </a:prstGeom>
        </p:spPr>
      </p:pic>
      <p:sp>
        <p:nvSpPr>
          <p:cNvPr id="53" name="Freeform: Shape 56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67912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5944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5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791A25-F628-4275-67AE-B7F19A312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852903"/>
            <a:ext cx="11155680" cy="54930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 sz="3200" b="1"/>
              <a:t>NOVOTOMIZMUS: OBNOVA TOMISTICKEJ TRADÍCIE</a:t>
            </a:r>
            <a:endParaRPr lang="sk-SK" sz="3200"/>
          </a:p>
          <a:p>
            <a:r>
              <a:rPr lang="sk-SK" sz="3200" b="1">
                <a:ea typeface="+mn-lt"/>
                <a:cs typeface="+mn-lt"/>
              </a:rPr>
              <a:t>Novotomizmus</a:t>
            </a:r>
            <a:r>
              <a:rPr lang="sk-SK" sz="3200">
                <a:ea typeface="+mn-lt"/>
                <a:cs typeface="+mn-lt"/>
              </a:rPr>
              <a:t> (alebo </a:t>
            </a:r>
            <a:r>
              <a:rPr lang="sk-SK" sz="3200" b="1" err="1">
                <a:ea typeface="+mn-lt"/>
                <a:cs typeface="+mn-lt"/>
              </a:rPr>
              <a:t>neotomizmus</a:t>
            </a:r>
            <a:r>
              <a:rPr lang="sk-SK" sz="3200">
                <a:ea typeface="+mn-lt"/>
                <a:cs typeface="+mn-lt"/>
              </a:rPr>
              <a:t>) je filozofický smer, ktorý sa rozvíjal najmä od konca 19. storočia a počas 20. storočia. Jeho cieľom bola </a:t>
            </a:r>
            <a:r>
              <a:rPr lang="sk-SK" sz="3200" b="1">
                <a:ea typeface="+mn-lt"/>
                <a:cs typeface="+mn-lt"/>
              </a:rPr>
              <a:t>obnova a aktualizácia učenia sv. Tomáša Akvinského</a:t>
            </a:r>
            <a:r>
              <a:rPr lang="sk-SK" sz="3200">
                <a:ea typeface="+mn-lt"/>
                <a:cs typeface="+mn-lt"/>
              </a:rPr>
              <a:t> v odpovedi na výzvy modernej filozofie, vedy a spoločnosti.</a:t>
            </a:r>
            <a:endParaRPr lang="sk-SK" sz="320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3468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017E24F-B817-A9C0-9F50-BD9D9F029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831584"/>
            <a:ext cx="11155680" cy="55143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k-SK" sz="2400" b="1" dirty="0"/>
              <a:t>   HLAVNÉ MYŠLIENKY </a:t>
            </a:r>
            <a:endParaRPr lang="sk-SK" sz="2400" dirty="0"/>
          </a:p>
          <a:p>
            <a:r>
              <a:rPr lang="sk-SK" b="1" dirty="0">
                <a:ea typeface="+mn-lt"/>
                <a:cs typeface="+mn-lt"/>
              </a:rPr>
              <a:t>Harmónia viery a rozumu</a:t>
            </a:r>
            <a:br>
              <a:rPr lang="sk-SK" b="1" dirty="0">
                <a:ea typeface="+mn-lt"/>
                <a:cs typeface="+mn-lt"/>
              </a:rPr>
            </a:br>
            <a:r>
              <a:rPr lang="sk-SK" b="1" dirty="0">
                <a:ea typeface="+mn-lt"/>
                <a:cs typeface="+mn-lt"/>
              </a:rPr>
              <a:t> – Rozum a viera sa navzájom neprotirečia, ale sa doplňujú</a:t>
            </a:r>
            <a:r>
              <a:rPr lang="sk-SK" dirty="0">
                <a:ea typeface="+mn-lt"/>
                <a:cs typeface="+mn-lt"/>
              </a:rPr>
              <a:t>.</a:t>
            </a:r>
            <a:br>
              <a:rPr lang="sk-SK" dirty="0">
                <a:ea typeface="+mn-lt"/>
                <a:cs typeface="+mn-lt"/>
              </a:rPr>
            </a:br>
            <a:r>
              <a:rPr lang="sk-SK" dirty="0">
                <a:ea typeface="+mn-lt"/>
                <a:cs typeface="+mn-lt"/>
              </a:rPr>
              <a:t> – Pravdy rozumu a pravdy viery pochádzajú od Boha, a teda sa </a:t>
            </a:r>
            <a:r>
              <a:rPr lang="sk-SK" b="1" dirty="0">
                <a:ea typeface="+mn-lt"/>
                <a:cs typeface="+mn-lt"/>
              </a:rPr>
              <a:t>nemôžu vzájomne vylučovať</a:t>
            </a:r>
            <a:r>
              <a:rPr lang="sk-SK" dirty="0">
                <a:ea typeface="+mn-lt"/>
                <a:cs typeface="+mn-lt"/>
              </a:rPr>
              <a:t>.</a:t>
            </a:r>
            <a:endParaRPr lang="sk-SK" dirty="0"/>
          </a:p>
          <a:p>
            <a:r>
              <a:rPr lang="sk-SK" b="1" dirty="0">
                <a:ea typeface="+mn-lt"/>
                <a:cs typeface="+mn-lt"/>
              </a:rPr>
              <a:t>Filozofia bytia (ontológia)</a:t>
            </a:r>
            <a:br>
              <a:rPr lang="sk-SK" b="1" dirty="0">
                <a:ea typeface="+mn-lt"/>
                <a:cs typeface="+mn-lt"/>
              </a:rPr>
            </a:br>
            <a:r>
              <a:rPr lang="sk-SK" b="1" dirty="0">
                <a:ea typeface="+mn-lt"/>
                <a:cs typeface="+mn-lt"/>
              </a:rPr>
              <a:t> – Základom filozofie je bytostná realita</a:t>
            </a:r>
            <a:r>
              <a:rPr lang="sk-SK" dirty="0">
                <a:ea typeface="+mn-lt"/>
                <a:cs typeface="+mn-lt"/>
              </a:rPr>
              <a:t> – bytie, ktoré je základom všetkého.</a:t>
            </a:r>
            <a:br>
              <a:rPr lang="sk-SK" dirty="0">
                <a:ea typeface="+mn-lt"/>
                <a:cs typeface="+mn-lt"/>
              </a:rPr>
            </a:br>
            <a:r>
              <a:rPr lang="sk-SK" dirty="0">
                <a:ea typeface="+mn-lt"/>
                <a:cs typeface="+mn-lt"/>
              </a:rPr>
              <a:t> – Boh je </a:t>
            </a:r>
            <a:r>
              <a:rPr lang="sk-SK" b="1" dirty="0">
                <a:ea typeface="+mn-lt"/>
                <a:cs typeface="+mn-lt"/>
              </a:rPr>
              <a:t>čisté bytie</a:t>
            </a:r>
            <a:r>
              <a:rPr lang="sk-SK" dirty="0">
                <a:ea typeface="+mn-lt"/>
                <a:cs typeface="+mn-lt"/>
              </a:rPr>
              <a:t> (</a:t>
            </a:r>
            <a:r>
              <a:rPr lang="sk-SK" dirty="0" err="1">
                <a:ea typeface="+mn-lt"/>
                <a:cs typeface="+mn-lt"/>
              </a:rPr>
              <a:t>actus</a:t>
            </a:r>
            <a:r>
              <a:rPr lang="sk-SK" dirty="0">
                <a:ea typeface="+mn-lt"/>
                <a:cs typeface="+mn-lt"/>
              </a:rPr>
              <a:t> </a:t>
            </a:r>
            <a:r>
              <a:rPr lang="sk-SK" dirty="0" err="1">
                <a:ea typeface="+mn-lt"/>
                <a:cs typeface="+mn-lt"/>
              </a:rPr>
              <a:t>essendi</a:t>
            </a:r>
            <a:r>
              <a:rPr lang="sk-SK" dirty="0">
                <a:ea typeface="+mn-lt"/>
                <a:cs typeface="+mn-lt"/>
              </a:rPr>
              <a:t>), dokonalé a neodvodené.</a:t>
            </a:r>
            <a:endParaRPr lang="sk-SK" dirty="0"/>
          </a:p>
          <a:p>
            <a:r>
              <a:rPr lang="sk-SK" b="1" dirty="0">
                <a:ea typeface="+mn-lt"/>
                <a:cs typeface="+mn-lt"/>
              </a:rPr>
              <a:t>Objektivita pravdy</a:t>
            </a:r>
            <a:br>
              <a:rPr lang="sk-SK" b="1" dirty="0">
                <a:ea typeface="+mn-lt"/>
                <a:cs typeface="+mn-lt"/>
              </a:rPr>
            </a:br>
            <a:r>
              <a:rPr lang="sk-SK" b="1" dirty="0">
                <a:ea typeface="+mn-lt"/>
                <a:cs typeface="+mn-lt"/>
              </a:rPr>
              <a:t> – Pravda existuje objektívne a môže byť rozumom poznaná</a:t>
            </a:r>
            <a:r>
              <a:rPr lang="sk-SK" dirty="0">
                <a:ea typeface="+mn-lt"/>
                <a:cs typeface="+mn-lt"/>
              </a:rPr>
              <a:t>.</a:t>
            </a:r>
            <a:endParaRPr lang="sk-SK" dirty="0"/>
          </a:p>
          <a:p>
            <a:r>
              <a:rPr lang="sk-SK" b="1" dirty="0">
                <a:ea typeface="+mn-lt"/>
                <a:cs typeface="+mn-lt"/>
              </a:rPr>
              <a:t>Etika založená na prirodzenom zákone</a:t>
            </a:r>
            <a:br>
              <a:rPr lang="sk-SK" b="1" dirty="0">
                <a:ea typeface="+mn-lt"/>
                <a:cs typeface="+mn-lt"/>
              </a:rPr>
            </a:br>
            <a:r>
              <a:rPr lang="sk-SK" b="1" dirty="0">
                <a:ea typeface="+mn-lt"/>
                <a:cs typeface="+mn-lt"/>
              </a:rPr>
              <a:t> – Človek má prirodzené sklony k dobru, a tieto sú dané prirodzeným morálnym zákonom</a:t>
            </a:r>
            <a:r>
              <a:rPr lang="sk-SK" dirty="0">
                <a:ea typeface="+mn-lt"/>
                <a:cs typeface="+mn-lt"/>
              </a:rPr>
              <a:t>, ktorý je možné poznať rozumom.</a:t>
            </a:r>
            <a:endParaRPr lang="sk-SK" dirty="0"/>
          </a:p>
          <a:p>
            <a:r>
              <a:rPr lang="sk-SK" b="1" dirty="0" err="1">
                <a:ea typeface="+mn-lt"/>
                <a:cs typeface="+mn-lt"/>
              </a:rPr>
              <a:t>Antimodernistická</a:t>
            </a:r>
            <a:r>
              <a:rPr lang="sk-SK" b="1" dirty="0">
                <a:ea typeface="+mn-lt"/>
                <a:cs typeface="+mn-lt"/>
              </a:rPr>
              <a:t> orientácia</a:t>
            </a:r>
            <a:br>
              <a:rPr lang="sk-SK" b="1" dirty="0">
                <a:ea typeface="+mn-lt"/>
                <a:cs typeface="+mn-lt"/>
              </a:rPr>
            </a:br>
            <a:r>
              <a:rPr lang="sk-SK" b="1" dirty="0">
                <a:ea typeface="+mn-lt"/>
                <a:cs typeface="+mn-lt"/>
              </a:rPr>
              <a:t> – Novotomizmus reaguje kriticky na relativizmus, subjektivizmus a skepticizmus</a:t>
            </a:r>
            <a:r>
              <a:rPr lang="sk-SK" dirty="0">
                <a:ea typeface="+mn-lt"/>
                <a:cs typeface="+mn-lt"/>
              </a:rPr>
              <a:t> moderných filozofií (napr. kantovskej, fenomenologickej či existencialistickej).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4989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287026E-56A5-3150-6107-A71563B43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67" y="785667"/>
            <a:ext cx="11234121" cy="59636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sk-SK" b="1" dirty="0"/>
              <a:t> </a:t>
            </a:r>
            <a:r>
              <a:rPr lang="sk-SK" sz="2800" b="1" dirty="0"/>
              <a:t>HLAVNÍ PREDSTAVITELIA</a:t>
            </a:r>
            <a:endParaRPr lang="sk-SK" sz="2800" dirty="0"/>
          </a:p>
          <a:p>
            <a:r>
              <a:rPr lang="sk-SK" dirty="0"/>
              <a:t> </a:t>
            </a:r>
            <a:r>
              <a:rPr lang="sk-SK" sz="1600" b="1" dirty="0"/>
              <a:t>Sv. Tomáš Akvinský</a:t>
            </a:r>
            <a:r>
              <a:rPr lang="sk-SK" sz="1600" dirty="0"/>
              <a:t> (1225 – 1274)</a:t>
            </a:r>
          </a:p>
          <a:p>
            <a:r>
              <a:rPr lang="sk-SK" sz="1600" dirty="0">
                <a:ea typeface="+mn-lt"/>
                <a:cs typeface="+mn-lt"/>
              </a:rPr>
              <a:t>– Hoci nežil v 20. storočí, je </a:t>
            </a:r>
            <a:r>
              <a:rPr lang="sk-SK" sz="1600" b="1" dirty="0">
                <a:ea typeface="+mn-lt"/>
                <a:cs typeface="+mn-lt"/>
              </a:rPr>
              <a:t>východiskovou osobnosťou</a:t>
            </a:r>
            <a:r>
              <a:rPr lang="sk-SK" sz="1600" dirty="0">
                <a:ea typeface="+mn-lt"/>
                <a:cs typeface="+mn-lt"/>
              </a:rPr>
              <a:t> novotomizmu.</a:t>
            </a:r>
          </a:p>
          <a:p>
            <a:endParaRPr lang="sk-SK" sz="1600" dirty="0"/>
          </a:p>
          <a:p>
            <a:r>
              <a:rPr lang="sk-SK" sz="1600" b="1" dirty="0"/>
              <a:t>Jozef </a:t>
            </a:r>
            <a:r>
              <a:rPr lang="sk-SK" sz="1600" b="1" err="1"/>
              <a:t>Kleutgen</a:t>
            </a:r>
            <a:r>
              <a:rPr lang="sk-SK" sz="1600" dirty="0"/>
              <a:t> (1811 – 1883)</a:t>
            </a:r>
          </a:p>
          <a:p>
            <a:r>
              <a:rPr lang="sk-SK" sz="1600" dirty="0">
                <a:ea typeface="+mn-lt"/>
                <a:cs typeface="+mn-lt"/>
              </a:rPr>
              <a:t>Predchodca novotomizmu, ktorý inicioval návrat k Tomášovi.</a:t>
            </a:r>
            <a:endParaRPr lang="sk-SK" sz="1600" dirty="0"/>
          </a:p>
          <a:p>
            <a:endParaRPr lang="sk-SK" sz="1600" dirty="0"/>
          </a:p>
          <a:p>
            <a:r>
              <a:rPr lang="sk-SK" sz="1600" b="1" err="1"/>
              <a:t>Jacques</a:t>
            </a:r>
            <a:r>
              <a:rPr lang="sk-SK" sz="1600" b="1" dirty="0"/>
              <a:t> </a:t>
            </a:r>
            <a:r>
              <a:rPr lang="sk-SK" sz="1600" b="1" err="1"/>
              <a:t>Maritain</a:t>
            </a:r>
            <a:r>
              <a:rPr lang="sk-SK" sz="1600" dirty="0"/>
              <a:t> (1882 – 1973)</a:t>
            </a:r>
          </a:p>
          <a:p>
            <a:r>
              <a:rPr lang="sk-SK" sz="1600" dirty="0">
                <a:ea typeface="+mn-lt"/>
                <a:cs typeface="+mn-lt"/>
              </a:rPr>
              <a:t>Francúzsky filozof, tvorca </a:t>
            </a:r>
            <a:r>
              <a:rPr lang="sk-SK" sz="1600" b="1" dirty="0">
                <a:ea typeface="+mn-lt"/>
                <a:cs typeface="+mn-lt"/>
              </a:rPr>
              <a:t>kresťanského humanizmu</a:t>
            </a:r>
            <a:r>
              <a:rPr lang="sk-SK" sz="1600" dirty="0">
                <a:ea typeface="+mn-lt"/>
                <a:cs typeface="+mn-lt"/>
              </a:rPr>
              <a:t>, silne ovplyvnený Akvinským. </a:t>
            </a:r>
          </a:p>
          <a:p>
            <a:r>
              <a:rPr lang="sk-SK" sz="1600" dirty="0">
                <a:ea typeface="+mn-lt"/>
                <a:cs typeface="+mn-lt"/>
              </a:rPr>
              <a:t>Presadzoval </a:t>
            </a:r>
            <a:r>
              <a:rPr lang="sk-SK" sz="1600" b="1" dirty="0">
                <a:ea typeface="+mn-lt"/>
                <a:cs typeface="+mn-lt"/>
              </a:rPr>
              <a:t>kresťanskú demokraciu a práva človeka</a:t>
            </a:r>
            <a:r>
              <a:rPr lang="sk-SK" sz="1600" dirty="0">
                <a:ea typeface="+mn-lt"/>
                <a:cs typeface="+mn-lt"/>
              </a:rPr>
              <a:t>.</a:t>
            </a:r>
            <a:endParaRPr lang="sk-SK" sz="1600" dirty="0"/>
          </a:p>
          <a:p>
            <a:endParaRPr lang="sk-SK" sz="1600" dirty="0"/>
          </a:p>
          <a:p>
            <a:r>
              <a:rPr lang="sk-SK" sz="1600" b="1" err="1"/>
              <a:t>Étienne</a:t>
            </a:r>
            <a:r>
              <a:rPr lang="sk-SK" sz="1600" b="1" dirty="0"/>
              <a:t> </a:t>
            </a:r>
            <a:r>
              <a:rPr lang="sk-SK" sz="1600" b="1" err="1"/>
              <a:t>Gilson</a:t>
            </a:r>
            <a:r>
              <a:rPr lang="sk-SK" sz="1600" dirty="0"/>
              <a:t> (1884 – 1978)</a:t>
            </a:r>
          </a:p>
          <a:p>
            <a:r>
              <a:rPr lang="sk-SK" sz="1600" dirty="0">
                <a:ea typeface="+mn-lt"/>
                <a:cs typeface="+mn-lt"/>
              </a:rPr>
              <a:t>Historik filozofie, presadzoval </a:t>
            </a:r>
            <a:r>
              <a:rPr lang="sk-SK" sz="1600" b="1" dirty="0">
                <a:ea typeface="+mn-lt"/>
                <a:cs typeface="+mn-lt"/>
              </a:rPr>
              <a:t>metafyziku bytia</a:t>
            </a:r>
            <a:r>
              <a:rPr lang="sk-SK" sz="1600" dirty="0">
                <a:ea typeface="+mn-lt"/>
                <a:cs typeface="+mn-lt"/>
              </a:rPr>
              <a:t> podľa Akvinského.</a:t>
            </a:r>
          </a:p>
          <a:p>
            <a:r>
              <a:rPr lang="sk-SK" sz="1600" dirty="0">
                <a:ea typeface="+mn-lt"/>
                <a:cs typeface="+mn-lt"/>
              </a:rPr>
              <a:t>Založil tzv. </a:t>
            </a:r>
            <a:r>
              <a:rPr lang="sk-SK" sz="1600" b="1" dirty="0">
                <a:ea typeface="+mn-lt"/>
                <a:cs typeface="+mn-lt"/>
              </a:rPr>
              <a:t>existenciálny </a:t>
            </a:r>
            <a:r>
              <a:rPr lang="sk-SK" sz="1600" b="1" err="1">
                <a:ea typeface="+mn-lt"/>
                <a:cs typeface="+mn-lt"/>
              </a:rPr>
              <a:t>tomizmus</a:t>
            </a:r>
            <a:r>
              <a:rPr lang="sk-SK" sz="1600" dirty="0">
                <a:ea typeface="+mn-lt"/>
                <a:cs typeface="+mn-lt"/>
              </a:rPr>
              <a:t> – dôraz na bytie ako akt.</a:t>
            </a:r>
            <a:endParaRPr lang="sk-SK" sz="1600" dirty="0"/>
          </a:p>
          <a:p>
            <a:endParaRPr lang="sk-SK" sz="1600" dirty="0"/>
          </a:p>
          <a:p>
            <a:r>
              <a:rPr lang="sk-SK" sz="1600" b="1" err="1"/>
              <a:t>Reginald</a:t>
            </a:r>
            <a:r>
              <a:rPr lang="sk-SK" sz="1600" b="1" dirty="0"/>
              <a:t> </a:t>
            </a:r>
            <a:r>
              <a:rPr lang="sk-SK" sz="1600" b="1" err="1"/>
              <a:t>Garrigou-Lagrange</a:t>
            </a:r>
            <a:r>
              <a:rPr lang="sk-SK" sz="1600" dirty="0"/>
              <a:t> (1877 – 1964)</a:t>
            </a:r>
          </a:p>
          <a:p>
            <a:r>
              <a:rPr lang="sk-SK" sz="1600" dirty="0">
                <a:ea typeface="+mn-lt"/>
                <a:cs typeface="+mn-lt"/>
              </a:rPr>
              <a:t>Dominikánsky teológ, tvrdý obhajca </a:t>
            </a:r>
            <a:r>
              <a:rPr lang="sk-SK" sz="1600" b="1" dirty="0">
                <a:ea typeface="+mn-lt"/>
                <a:cs typeface="+mn-lt"/>
              </a:rPr>
              <a:t>"klasického" </a:t>
            </a:r>
            <a:r>
              <a:rPr lang="sk-SK" sz="1600" b="1" err="1">
                <a:ea typeface="+mn-lt"/>
                <a:cs typeface="+mn-lt"/>
              </a:rPr>
              <a:t>tomizmu</a:t>
            </a:r>
            <a:r>
              <a:rPr lang="sk-SK" sz="1600" dirty="0">
                <a:ea typeface="+mn-lt"/>
                <a:cs typeface="+mn-lt"/>
              </a:rPr>
              <a:t>, poradca Vatikánu.</a:t>
            </a:r>
            <a:endParaRPr lang="sk-SK" sz="1600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3974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1531DB-B366-1FB1-02D5-FD6CC7DB1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718432"/>
            <a:ext cx="11155680" cy="5627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k-SK" b="1" dirty="0"/>
              <a:t> </a:t>
            </a:r>
            <a:r>
              <a:rPr lang="sk-SK" sz="3200" b="1" dirty="0"/>
              <a:t>PODPORA CIRKVOU</a:t>
            </a:r>
            <a:endParaRPr lang="sk-SK" sz="3200" dirty="0"/>
          </a:p>
          <a:p>
            <a:r>
              <a:rPr lang="sk-SK" dirty="0">
                <a:ea typeface="+mn-lt"/>
                <a:cs typeface="+mn-lt"/>
              </a:rPr>
              <a:t>Pápež </a:t>
            </a:r>
            <a:r>
              <a:rPr lang="sk-SK" b="1" dirty="0">
                <a:ea typeface="+mn-lt"/>
                <a:cs typeface="+mn-lt"/>
              </a:rPr>
              <a:t>Lev XIII.</a:t>
            </a:r>
            <a:r>
              <a:rPr lang="sk-SK" dirty="0">
                <a:ea typeface="+mn-lt"/>
                <a:cs typeface="+mn-lt"/>
              </a:rPr>
              <a:t> v encyklike </a:t>
            </a:r>
            <a:r>
              <a:rPr lang="sk-SK" b="1" dirty="0" err="1">
                <a:ea typeface="+mn-lt"/>
                <a:cs typeface="+mn-lt"/>
              </a:rPr>
              <a:t>Aeterni</a:t>
            </a:r>
            <a:r>
              <a:rPr lang="sk-SK" b="1" dirty="0">
                <a:ea typeface="+mn-lt"/>
                <a:cs typeface="+mn-lt"/>
              </a:rPr>
              <a:t> </a:t>
            </a:r>
            <a:r>
              <a:rPr lang="sk-SK" b="1" dirty="0" err="1">
                <a:ea typeface="+mn-lt"/>
                <a:cs typeface="+mn-lt"/>
              </a:rPr>
              <a:t>Patris</a:t>
            </a:r>
            <a:r>
              <a:rPr lang="sk-SK" b="1" dirty="0">
                <a:ea typeface="+mn-lt"/>
                <a:cs typeface="+mn-lt"/>
              </a:rPr>
              <a:t> (1879)</a:t>
            </a:r>
            <a:r>
              <a:rPr lang="sk-SK" dirty="0">
                <a:ea typeface="+mn-lt"/>
                <a:cs typeface="+mn-lt"/>
              </a:rPr>
              <a:t> vyzval na návrat k Tomášovi ako k „učiteľovi filozofie Cirkvi“.  </a:t>
            </a:r>
            <a:endParaRPr lang="en-US" dirty="0">
              <a:ea typeface="+mn-lt"/>
              <a:cs typeface="+mn-lt"/>
            </a:endParaRPr>
          </a:p>
          <a:p>
            <a:r>
              <a:rPr lang="sk-SK" dirty="0">
                <a:ea typeface="+mn-lt"/>
                <a:cs typeface="+mn-lt"/>
              </a:rPr>
              <a:t>Novotomizmus sa stal </a:t>
            </a:r>
            <a:r>
              <a:rPr lang="sk-SK" b="1" dirty="0">
                <a:ea typeface="+mn-lt"/>
                <a:cs typeface="+mn-lt"/>
              </a:rPr>
              <a:t>oficiálnou filozofiou katolíckych seminárov a univerzít</a:t>
            </a:r>
            <a:r>
              <a:rPr lang="sk-SK" dirty="0">
                <a:ea typeface="+mn-lt"/>
                <a:cs typeface="+mn-lt"/>
              </a:rPr>
              <a:t>.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sk-SK" b="1" dirty="0"/>
              <a:t> </a:t>
            </a:r>
            <a:r>
              <a:rPr lang="sk-SK" sz="3200" b="1" dirty="0"/>
              <a:t>VPLYV A DEDIČSTVO</a:t>
            </a:r>
            <a:endParaRPr lang="sk-SK" sz="3200"/>
          </a:p>
          <a:p>
            <a:r>
              <a:rPr lang="sk-SK" dirty="0">
                <a:ea typeface="+mn-lt"/>
                <a:cs typeface="+mn-lt"/>
              </a:rPr>
              <a:t>Bol </a:t>
            </a:r>
            <a:r>
              <a:rPr lang="sk-SK" b="1" dirty="0">
                <a:ea typeface="+mn-lt"/>
                <a:cs typeface="+mn-lt"/>
              </a:rPr>
              <a:t>dominantným filozofickým smerom v katolíckej teológii</a:t>
            </a:r>
            <a:r>
              <a:rPr lang="sk-SK" dirty="0">
                <a:ea typeface="+mn-lt"/>
                <a:cs typeface="+mn-lt"/>
              </a:rPr>
              <a:t> až do Druhého vatikánskeho koncilu (1962 – 1965).</a:t>
            </a:r>
            <a:endParaRPr lang="sk-SK" dirty="0"/>
          </a:p>
          <a:p>
            <a:r>
              <a:rPr lang="sk-SK" dirty="0">
                <a:ea typeface="+mn-lt"/>
                <a:cs typeface="+mn-lt"/>
              </a:rPr>
              <a:t>Viedol k </a:t>
            </a:r>
            <a:r>
              <a:rPr lang="sk-SK" b="1" dirty="0">
                <a:ea typeface="+mn-lt"/>
                <a:cs typeface="+mn-lt"/>
              </a:rPr>
              <a:t>systematizácii a racionálnej obrane viery</a:t>
            </a:r>
            <a:r>
              <a:rPr lang="sk-SK" dirty="0">
                <a:ea typeface="+mn-lt"/>
                <a:cs typeface="+mn-lt"/>
              </a:rPr>
              <a:t>.</a:t>
            </a:r>
            <a:endParaRPr lang="sk-SK" dirty="0"/>
          </a:p>
          <a:p>
            <a:r>
              <a:rPr lang="sk-SK" dirty="0">
                <a:ea typeface="+mn-lt"/>
                <a:cs typeface="+mn-lt"/>
              </a:rPr>
              <a:t>Mal veľký vplyv na </a:t>
            </a:r>
            <a:r>
              <a:rPr lang="sk-SK" b="1" dirty="0">
                <a:ea typeface="+mn-lt"/>
                <a:cs typeface="+mn-lt"/>
              </a:rPr>
              <a:t>katolícku etiku, právo, politiku a vzťah k vede</a:t>
            </a:r>
            <a:r>
              <a:rPr lang="sk-SK" dirty="0">
                <a:ea typeface="+mn-lt"/>
                <a:cs typeface="+mn-lt"/>
              </a:rPr>
              <a:t>.</a:t>
            </a:r>
            <a:endParaRPr lang="sk-SK" dirty="0"/>
          </a:p>
          <a:p>
            <a:r>
              <a:rPr lang="sk-SK" dirty="0">
                <a:ea typeface="+mn-lt"/>
                <a:cs typeface="+mn-lt"/>
              </a:rPr>
              <a:t>Bol základom pre </a:t>
            </a:r>
            <a:r>
              <a:rPr lang="sk-SK" b="1" dirty="0">
                <a:ea typeface="+mn-lt"/>
                <a:cs typeface="+mn-lt"/>
              </a:rPr>
              <a:t>rozvoj </a:t>
            </a:r>
            <a:r>
              <a:rPr lang="sk-SK" b="1" dirty="0" err="1">
                <a:ea typeface="+mn-lt"/>
                <a:cs typeface="+mn-lt"/>
              </a:rPr>
              <a:t>personalizmu</a:t>
            </a:r>
            <a:r>
              <a:rPr lang="sk-SK" dirty="0">
                <a:ea typeface="+mn-lt"/>
                <a:cs typeface="+mn-lt"/>
              </a:rPr>
              <a:t> (Karol </a:t>
            </a:r>
            <a:r>
              <a:rPr lang="sk-SK" dirty="0" err="1">
                <a:ea typeface="+mn-lt"/>
                <a:cs typeface="+mn-lt"/>
              </a:rPr>
              <a:t>Wojtyła</a:t>
            </a:r>
            <a:r>
              <a:rPr lang="sk-SK" dirty="0">
                <a:ea typeface="+mn-lt"/>
                <a:cs typeface="+mn-lt"/>
              </a:rPr>
              <a:t>) a </a:t>
            </a:r>
            <a:r>
              <a:rPr lang="sk-SK" b="1" dirty="0">
                <a:ea typeface="+mn-lt"/>
                <a:cs typeface="+mn-lt"/>
              </a:rPr>
              <a:t>kresťanského existencializmu</a:t>
            </a:r>
            <a:r>
              <a:rPr lang="sk-SK" dirty="0">
                <a:ea typeface="+mn-lt"/>
                <a:cs typeface="+mn-lt"/>
              </a:rPr>
              <a:t>.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8524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2500D3-BCCE-D5F6-7666-8DEE2E63A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707226"/>
            <a:ext cx="11155680" cy="56387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k-SK" dirty="0"/>
              <a:t> </a:t>
            </a:r>
            <a:r>
              <a:rPr lang="sk-SK" sz="3200" dirty="0"/>
              <a:t>MODERNIZMUS: KRITIKA A REFORMA</a:t>
            </a:r>
          </a:p>
          <a:p>
            <a:r>
              <a:rPr lang="sk-SK" b="1">
                <a:ea typeface="+mn-lt"/>
                <a:cs typeface="+mn-lt"/>
              </a:rPr>
              <a:t>Modernizmus</a:t>
            </a:r>
            <a:r>
              <a:rPr lang="sk-SK">
                <a:ea typeface="+mn-lt"/>
                <a:cs typeface="+mn-lt"/>
              </a:rPr>
              <a:t> bol intelektuálny smer na prelome 19. a 20. storočia, ktorý sa snažil prispôsobiť kresťanskú vieru modernému vedeckému a kultúrnemu prostrediu. Zdôrazňoval racionalizmus, empirizmus a historicko-kritickú metódu v teológii.</a:t>
            </a:r>
            <a:endParaRPr lang="sk-SK"/>
          </a:p>
          <a:p>
            <a:pPr marL="0" indent="0">
              <a:buNone/>
            </a:pPr>
            <a:r>
              <a:rPr lang="sk-SK" dirty="0"/>
              <a:t> </a:t>
            </a:r>
            <a:r>
              <a:rPr lang="sk-SK" sz="3200" dirty="0"/>
              <a:t>Hlavné myšlienky</a:t>
            </a:r>
          </a:p>
          <a:p>
            <a:r>
              <a:rPr lang="sk-SK" b="1">
                <a:ea typeface="+mn-lt"/>
                <a:cs typeface="+mn-lt"/>
              </a:rPr>
              <a:t>Racionalizmus a empirizmus</a:t>
            </a:r>
            <a:r>
              <a:rPr lang="sk-SK">
                <a:ea typeface="+mn-lt"/>
                <a:cs typeface="+mn-lt"/>
              </a:rPr>
              <a:t>: Dôraz na rozum a skúsenosť ako hlavné nástroje poznania.</a:t>
            </a:r>
            <a:endParaRPr lang="sk-SK"/>
          </a:p>
          <a:p>
            <a:r>
              <a:rPr lang="sk-SK" b="1">
                <a:ea typeface="+mn-lt"/>
                <a:cs typeface="+mn-lt"/>
              </a:rPr>
              <a:t>Historicko-kritická metóda</a:t>
            </a:r>
            <a:r>
              <a:rPr lang="sk-SK">
                <a:ea typeface="+mn-lt"/>
                <a:cs typeface="+mn-lt"/>
              </a:rPr>
              <a:t>: Analýza biblických textov a cirkevných dogiem v ich historickom kontexte.</a:t>
            </a:r>
            <a:endParaRPr lang="sk-SK"/>
          </a:p>
          <a:p>
            <a:r>
              <a:rPr lang="sk-SK" b="1">
                <a:ea typeface="+mn-lt"/>
                <a:cs typeface="+mn-lt"/>
              </a:rPr>
              <a:t>Prispôsobenie viery</a:t>
            </a:r>
            <a:r>
              <a:rPr lang="sk-SK">
                <a:ea typeface="+mn-lt"/>
                <a:cs typeface="+mn-lt"/>
              </a:rPr>
              <a:t>: Snahy o aktualizáciu kresťanského učenia v súlade s moderným myslením.</a:t>
            </a:r>
            <a:endParaRPr lang="sk-SK"/>
          </a:p>
          <a:p>
            <a:pPr marL="0" indent="0">
              <a:buNone/>
            </a:pPr>
            <a:r>
              <a:rPr lang="sk-SK" dirty="0"/>
              <a:t> </a:t>
            </a:r>
            <a:r>
              <a:rPr lang="sk-SK" sz="3200" dirty="0"/>
              <a:t>Kritika:</a:t>
            </a:r>
          </a:p>
          <a:p>
            <a:r>
              <a:rPr lang="sk-SK">
                <a:ea typeface="+mn-lt"/>
                <a:cs typeface="+mn-lt"/>
              </a:rPr>
              <a:t>Katolícka cirkev považovala modernizmus za hrozbu pre tradičné učenie. Pápež </a:t>
            </a:r>
            <a:r>
              <a:rPr lang="sk-SK" err="1">
                <a:ea typeface="+mn-lt"/>
                <a:cs typeface="+mn-lt"/>
              </a:rPr>
              <a:t>Pius</a:t>
            </a:r>
            <a:r>
              <a:rPr lang="sk-SK">
                <a:ea typeface="+mn-lt"/>
                <a:cs typeface="+mn-lt"/>
              </a:rPr>
              <a:t> X. ho označil za "syntézu všetkých heréz" a v encyklike </a:t>
            </a:r>
            <a:r>
              <a:rPr lang="sk-SK" i="1" err="1">
                <a:ea typeface="+mn-lt"/>
                <a:cs typeface="+mn-lt"/>
              </a:rPr>
              <a:t>Pascendi</a:t>
            </a:r>
            <a:r>
              <a:rPr lang="sk-SK" i="1">
                <a:ea typeface="+mn-lt"/>
                <a:cs typeface="+mn-lt"/>
              </a:rPr>
              <a:t> </a:t>
            </a:r>
            <a:r>
              <a:rPr lang="sk-SK" i="1" err="1">
                <a:ea typeface="+mn-lt"/>
                <a:cs typeface="+mn-lt"/>
              </a:rPr>
              <a:t>Dominici</a:t>
            </a:r>
            <a:r>
              <a:rPr lang="sk-SK" i="1">
                <a:ea typeface="+mn-lt"/>
                <a:cs typeface="+mn-lt"/>
              </a:rPr>
              <a:t> </a:t>
            </a:r>
            <a:r>
              <a:rPr lang="sk-SK" i="1" err="1">
                <a:ea typeface="+mn-lt"/>
                <a:cs typeface="+mn-lt"/>
              </a:rPr>
              <a:t>Gregis</a:t>
            </a:r>
            <a:r>
              <a:rPr lang="sk-SK">
                <a:ea typeface="+mn-lt"/>
                <a:cs typeface="+mn-lt"/>
              </a:rPr>
              <a:t> (1907) ho odsúdil. Modernizmus bol kritizovaný za </a:t>
            </a:r>
            <a:r>
              <a:rPr lang="sk-SK" err="1">
                <a:ea typeface="+mn-lt"/>
                <a:cs typeface="+mn-lt"/>
              </a:rPr>
              <a:t>relativizáciu</a:t>
            </a:r>
            <a:r>
              <a:rPr lang="sk-SK">
                <a:ea typeface="+mn-lt"/>
                <a:cs typeface="+mn-lt"/>
              </a:rPr>
              <a:t> viery a nadmerné zdôrazňovanie subjektívneho poznania.</a:t>
            </a:r>
            <a:endParaRPr lang="sk-SK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8453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BCADE26-3FB4-0C36-4817-D4C8A2CE9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740844"/>
            <a:ext cx="11155680" cy="56050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k-SK" dirty="0"/>
              <a:t> </a:t>
            </a:r>
            <a:r>
              <a:rPr lang="sk-SK" sz="3200" dirty="0"/>
              <a:t>SLOVENSKÁ KRESŤANSKÁ FILOZOFIA 20. STOROČIA</a:t>
            </a:r>
          </a:p>
          <a:p>
            <a:r>
              <a:rPr lang="sk-SK" dirty="0">
                <a:ea typeface="+mn-lt"/>
                <a:cs typeface="+mn-lt"/>
              </a:rPr>
              <a:t>Slovenská kresťanská filozofia 20. storočia sa vyvíjala v kontexte spoločenských a politických zmien, vrátane totalitných režimov a snáh o zachovanie národnej identity.</a:t>
            </a:r>
            <a:endParaRPr lang="sk-SK" dirty="0"/>
          </a:p>
          <a:p>
            <a:pPr marL="0" indent="0">
              <a:buNone/>
            </a:pPr>
            <a:r>
              <a:rPr lang="sk-SK" dirty="0"/>
              <a:t> </a:t>
            </a:r>
            <a:r>
              <a:rPr lang="sk-SK" sz="3200" dirty="0"/>
              <a:t>Hlavné smery a predstavitelia:</a:t>
            </a:r>
          </a:p>
          <a:p>
            <a:r>
              <a:rPr lang="sk-SK" b="1" dirty="0" err="1">
                <a:ea typeface="+mn-lt"/>
                <a:cs typeface="+mn-lt"/>
              </a:rPr>
              <a:t>Neotomizmus</a:t>
            </a:r>
            <a:r>
              <a:rPr lang="sk-SK" dirty="0">
                <a:ea typeface="+mn-lt"/>
                <a:cs typeface="+mn-lt"/>
              </a:rPr>
              <a:t>: Obnova </a:t>
            </a:r>
            <a:r>
              <a:rPr lang="sk-SK" dirty="0" err="1">
                <a:ea typeface="+mn-lt"/>
                <a:cs typeface="+mn-lt"/>
              </a:rPr>
              <a:t>tomistickej</a:t>
            </a:r>
            <a:r>
              <a:rPr lang="sk-SK" dirty="0">
                <a:ea typeface="+mn-lt"/>
                <a:cs typeface="+mn-lt"/>
              </a:rPr>
              <a:t> filozofie; predstavitelia ako Ján </a:t>
            </a:r>
            <a:r>
              <a:rPr lang="sk-SK" dirty="0" err="1">
                <a:ea typeface="+mn-lt"/>
                <a:cs typeface="+mn-lt"/>
              </a:rPr>
              <a:t>Letz</a:t>
            </a:r>
            <a:r>
              <a:rPr lang="sk-SK" dirty="0">
                <a:ea typeface="+mn-lt"/>
                <a:cs typeface="+mn-lt"/>
              </a:rPr>
              <a:t>.</a:t>
            </a:r>
            <a:endParaRPr lang="sk-SK" dirty="0"/>
          </a:p>
          <a:p>
            <a:r>
              <a:rPr lang="sk-SK" b="1" dirty="0" err="1">
                <a:ea typeface="+mn-lt"/>
                <a:cs typeface="+mn-lt"/>
              </a:rPr>
              <a:t>Personalizmus</a:t>
            </a:r>
            <a:r>
              <a:rPr lang="sk-SK" dirty="0">
                <a:ea typeface="+mn-lt"/>
                <a:cs typeface="+mn-lt"/>
              </a:rPr>
              <a:t>: Dôraz na dôstojnosť a slobodu ľudskej osoby.</a:t>
            </a:r>
            <a:endParaRPr lang="sk-SK" dirty="0"/>
          </a:p>
          <a:p>
            <a:r>
              <a:rPr lang="sk-SK" b="1" dirty="0">
                <a:ea typeface="+mn-lt"/>
                <a:cs typeface="+mn-lt"/>
              </a:rPr>
              <a:t>Kreačno-evolučná filozofia</a:t>
            </a:r>
            <a:r>
              <a:rPr lang="sk-SK" dirty="0">
                <a:ea typeface="+mn-lt"/>
                <a:cs typeface="+mn-lt"/>
              </a:rPr>
              <a:t>: Spájanie evolučného pohľadu s kresťanským učením; Ján </a:t>
            </a:r>
            <a:r>
              <a:rPr lang="sk-SK" dirty="0" err="1">
                <a:ea typeface="+mn-lt"/>
                <a:cs typeface="+mn-lt"/>
              </a:rPr>
              <a:t>Letz</a:t>
            </a:r>
            <a:r>
              <a:rPr lang="sk-SK" dirty="0">
                <a:ea typeface="+mn-lt"/>
                <a:cs typeface="+mn-lt"/>
              </a:rPr>
              <a:t> ako významný predstaviteľ.</a:t>
            </a:r>
            <a:endParaRPr lang="sk-SK" dirty="0"/>
          </a:p>
          <a:p>
            <a:r>
              <a:rPr lang="sk-SK" dirty="0">
                <a:ea typeface="+mn-lt"/>
                <a:cs typeface="+mn-lt"/>
              </a:rPr>
              <a:t>Ján </a:t>
            </a:r>
            <a:r>
              <a:rPr lang="sk-SK" dirty="0" err="1">
                <a:ea typeface="+mn-lt"/>
                <a:cs typeface="+mn-lt"/>
              </a:rPr>
              <a:t>Letz</a:t>
            </a:r>
            <a:r>
              <a:rPr lang="sk-SK" dirty="0">
                <a:ea typeface="+mn-lt"/>
                <a:cs typeface="+mn-lt"/>
              </a:rPr>
              <a:t> vo svojej monografii </a:t>
            </a:r>
            <a:r>
              <a:rPr lang="sk-SK" i="1" dirty="0">
                <a:ea typeface="+mn-lt"/>
                <a:cs typeface="+mn-lt"/>
              </a:rPr>
              <a:t>Slovenská kresťanská filozofia 20. storočia a jej perspektívy</a:t>
            </a:r>
            <a:r>
              <a:rPr lang="sk-SK" dirty="0">
                <a:ea typeface="+mn-lt"/>
                <a:cs typeface="+mn-lt"/>
              </a:rPr>
              <a:t> analyzuje vyše 130 slovenských kresťanských mysliteľov a ich prínos k filozofii.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44299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B03C0F0-B9A3-0FA2-7D03-86DA2BB7E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830491"/>
            <a:ext cx="11155680" cy="57731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k-SK" dirty="0"/>
              <a:t> </a:t>
            </a:r>
            <a:r>
              <a:rPr lang="sk-SK" sz="3200" dirty="0"/>
              <a:t>KRESŤANSKÁ FILOZOFIA DEJÍN</a:t>
            </a:r>
          </a:p>
          <a:p>
            <a:r>
              <a:rPr lang="sk-SK" b="1">
                <a:ea typeface="+mn-lt"/>
                <a:cs typeface="+mn-lt"/>
              </a:rPr>
              <a:t>Kresťanská filozofia dejín</a:t>
            </a:r>
            <a:r>
              <a:rPr lang="sk-SK">
                <a:ea typeface="+mn-lt"/>
                <a:cs typeface="+mn-lt"/>
              </a:rPr>
              <a:t> skúma zmysel a smerovanie dejín z pohľadu kresťanskej viery. Zdôrazňuje Božiu prozreteľnosť a úlohu človeka v dejinách spásy.</a:t>
            </a:r>
            <a:endParaRPr lang="sk-SK"/>
          </a:p>
          <a:p>
            <a:pPr marL="0" indent="0">
              <a:buNone/>
            </a:pPr>
            <a:r>
              <a:rPr lang="sk-SK"/>
              <a:t> </a:t>
            </a:r>
            <a:r>
              <a:rPr lang="sk-SK" dirty="0"/>
              <a:t> </a:t>
            </a:r>
            <a:r>
              <a:rPr lang="sk-SK" sz="3200" dirty="0"/>
              <a:t>Hlavné myšlienky:</a:t>
            </a:r>
          </a:p>
          <a:p>
            <a:r>
              <a:rPr lang="sk-SK" b="1">
                <a:ea typeface="+mn-lt"/>
                <a:cs typeface="+mn-lt"/>
              </a:rPr>
              <a:t>Božia prozreteľnosť</a:t>
            </a:r>
            <a:r>
              <a:rPr lang="sk-SK">
                <a:ea typeface="+mn-lt"/>
                <a:cs typeface="+mn-lt"/>
              </a:rPr>
              <a:t>: Dejiny sú vedené Božím plánom.</a:t>
            </a:r>
            <a:endParaRPr lang="sk-SK"/>
          </a:p>
          <a:p>
            <a:r>
              <a:rPr lang="sk-SK" b="1">
                <a:ea typeface="+mn-lt"/>
                <a:cs typeface="+mn-lt"/>
              </a:rPr>
              <a:t>Úloha človeka</a:t>
            </a:r>
            <a:r>
              <a:rPr lang="sk-SK">
                <a:ea typeface="+mn-lt"/>
                <a:cs typeface="+mn-lt"/>
              </a:rPr>
              <a:t>: Človek ako spolupracovník v dejinách spásy.</a:t>
            </a:r>
            <a:endParaRPr lang="sk-SK"/>
          </a:p>
          <a:p>
            <a:r>
              <a:rPr lang="sk-SK" b="1" dirty="0">
                <a:ea typeface="+mn-lt"/>
                <a:cs typeface="+mn-lt"/>
              </a:rPr>
              <a:t>Kritika sekularizmu</a:t>
            </a:r>
            <a:r>
              <a:rPr lang="sk-SK">
                <a:ea typeface="+mn-lt"/>
                <a:cs typeface="+mn-lt"/>
              </a:rPr>
              <a:t>: Odmietanie čisto materialistického a sekulárneho pohľadu na dejiny.</a:t>
            </a:r>
          </a:p>
          <a:p>
            <a:r>
              <a:rPr lang="sk-SK" dirty="0">
                <a:ea typeface="+mn-lt"/>
                <a:cs typeface="+mn-lt"/>
              </a:rPr>
              <a:t>Jozef M. Rydlo vo svojej monografii </a:t>
            </a:r>
            <a:r>
              <a:rPr lang="sk-SK" i="1" dirty="0">
                <a:ea typeface="+mn-lt"/>
                <a:cs typeface="+mn-lt"/>
              </a:rPr>
              <a:t>Kresťanská filozofia dejín</a:t>
            </a:r>
            <a:r>
              <a:rPr lang="sk-SK" dirty="0">
                <a:ea typeface="+mn-lt"/>
                <a:cs typeface="+mn-lt"/>
              </a:rPr>
              <a:t> analyzuje tradičné kresťanské koncepcie dejín a ich konfrontáciu s modernými ideológiami ako osvietenstvo a marxizmus.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7709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4EC892-533E-28B3-3D54-B9946940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69290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sk-SK" sz="6000"/>
              <a:t> </a:t>
            </a:r>
            <a:r>
              <a:rPr lang="sk-SK" sz="6000" dirty="0"/>
              <a:t>ĎAKUJEME ZA POZORNOSŤ :)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548859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Širokouhlá</PresentationFormat>
  <Paragraphs>0</Paragraphs>
  <Slides>9</Slides>
  <Notes>0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0" baseType="lpstr">
      <vt:lpstr>GestaltVTI</vt:lpstr>
      <vt:lpstr>Filozofia katolicizmu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 ĎAKUJEME ZA POZORNOSŤ :)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98</cp:revision>
  <dcterms:created xsi:type="dcterms:W3CDTF">2012-08-15T23:32:20Z</dcterms:created>
  <dcterms:modified xsi:type="dcterms:W3CDTF">2025-05-18T21:16:04Z</dcterms:modified>
</cp:coreProperties>
</file>